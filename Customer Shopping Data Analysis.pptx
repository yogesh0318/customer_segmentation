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818DA9-2691-42A4-8214-78EACF481C93}" v="7" dt="2025-09-16T12:21:03.0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D3143-00EE-4F09-AA4B-C0EF5BC9C249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1B7AAA72-6433-4896-8453-786D542A22CA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9866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D3143-00EE-4F09-AA4B-C0EF5BC9C249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AAA72-6433-4896-8453-786D542A22CA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6525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D3143-00EE-4F09-AA4B-C0EF5BC9C249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AAA72-6433-4896-8453-786D542A22CA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0589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D3143-00EE-4F09-AA4B-C0EF5BC9C249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AAA72-6433-4896-8453-786D542A22CA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7339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D3143-00EE-4F09-AA4B-C0EF5BC9C249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AAA72-6433-4896-8453-786D542A22CA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4329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D3143-00EE-4F09-AA4B-C0EF5BC9C249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AAA72-6433-4896-8453-786D542A22CA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1445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D3143-00EE-4F09-AA4B-C0EF5BC9C249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AAA72-6433-4896-8453-786D542A22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1109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D3143-00EE-4F09-AA4B-C0EF5BC9C249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AAA72-6433-4896-8453-786D542A22CA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9537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DB3D3143-00EE-4F09-AA4B-C0EF5BC9C249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AAA72-6433-4896-8453-786D542A22CA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1409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D3143-00EE-4F09-AA4B-C0EF5BC9C249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AAA72-6433-4896-8453-786D542A22CA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283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D3143-00EE-4F09-AA4B-C0EF5BC9C249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AAA72-6433-4896-8453-786D542A22CA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3834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3D3143-00EE-4F09-AA4B-C0EF5BC9C249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1B7AAA72-6433-4896-8453-786D542A22CA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1516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2EC5B-AF18-E6F7-935E-6B59AEE26D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b="1" i="1" dirty="0">
                <a:latin typeface="Segoe UI" panose="020B0502040204020203" pitchFamily="34" charset="0"/>
                <a:cs typeface="Segoe UI" panose="020B0502040204020203" pitchFamily="34" charset="0"/>
              </a:rPr>
              <a:t>Customer Shopping 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DBCFC7-A7CA-76B4-67FA-BFF0CA32C6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8686" y="3733799"/>
            <a:ext cx="9666514" cy="1099457"/>
          </a:xfrm>
        </p:spPr>
        <p:txBody>
          <a:bodyPr/>
          <a:lstStyle/>
          <a:p>
            <a:pPr algn="l"/>
            <a:r>
              <a:rPr lang="en-US" i="1" dirty="0"/>
              <a:t>Unlocking Key Insights to Drive Retail Growth </a:t>
            </a:r>
          </a:p>
          <a:p>
            <a:pPr algn="r"/>
            <a:r>
              <a:rPr lang="en-US" i="1" dirty="0"/>
              <a:t> -September 2025</a:t>
            </a:r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670486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DC1B8-E3BE-B207-83EB-F16C81B90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Executive Summary: Key Performance Indicators (KPIs)</a:t>
            </a:r>
            <a:endParaRPr lang="en-IN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150FE-BD4F-8ACF-0462-A673B21C27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i="1" dirty="0"/>
              <a:t>A high-level overview of our business performance reveals a strong foundation with clear areas for growth.</a:t>
            </a:r>
          </a:p>
          <a:p>
            <a:pPr lvl="1" algn="just"/>
            <a:r>
              <a:rPr lang="en-US" b="1" i="1" dirty="0"/>
              <a:t>Total Revenue:</a:t>
            </a:r>
            <a:r>
              <a:rPr lang="en-US" i="1" dirty="0"/>
              <a:t> $251.51 M</a:t>
            </a:r>
          </a:p>
          <a:p>
            <a:pPr lvl="1" algn="just"/>
            <a:r>
              <a:rPr lang="en-US" b="1" i="1" dirty="0"/>
              <a:t>Total Customers:</a:t>
            </a:r>
            <a:r>
              <a:rPr lang="en-US" i="1" dirty="0"/>
              <a:t> 99.46 K</a:t>
            </a:r>
          </a:p>
          <a:p>
            <a:pPr lvl="1" algn="just"/>
            <a:r>
              <a:rPr lang="en-US" b="1" i="1" dirty="0"/>
              <a:t>Average Spend Per Customer:</a:t>
            </a:r>
            <a:r>
              <a:rPr lang="en-US" i="1" dirty="0"/>
              <a:t> $2.53 K</a:t>
            </a:r>
          </a:p>
          <a:p>
            <a:pPr lvl="1" algn="just"/>
            <a:r>
              <a:rPr lang="en-US" b="1" i="1" dirty="0"/>
              <a:t>Most Popular Product Category:</a:t>
            </a:r>
            <a:r>
              <a:rPr lang="en-US" i="1" dirty="0"/>
              <a:t> Clothing</a:t>
            </a:r>
          </a:p>
          <a:p>
            <a:pPr lvl="1" algn="just"/>
            <a:r>
              <a:rPr lang="en-US" b="1" i="1" dirty="0"/>
              <a:t>Dominant Payment Method:</a:t>
            </a:r>
            <a:r>
              <a:rPr lang="en-US" i="1" dirty="0"/>
              <a:t> Cash</a:t>
            </a:r>
          </a:p>
          <a:p>
            <a:pPr lvl="1" algn="just"/>
            <a:r>
              <a:rPr lang="en-US" b="1" i="1" dirty="0"/>
              <a:t>Key Demographics:</a:t>
            </a:r>
            <a:endParaRPr lang="en-US" i="1" dirty="0"/>
          </a:p>
          <a:p>
            <a:pPr lvl="2" algn="just"/>
            <a:r>
              <a:rPr lang="en-US" b="1" i="1" dirty="0"/>
              <a:t>Total Female Customers:</a:t>
            </a:r>
            <a:r>
              <a:rPr lang="en-US" i="1" dirty="0"/>
              <a:t> 59 K</a:t>
            </a:r>
          </a:p>
          <a:p>
            <a:pPr lvl="2" algn="just"/>
            <a:r>
              <a:rPr lang="en-US" b="1" i="1" dirty="0"/>
              <a:t>Total Male Customers:</a:t>
            </a:r>
            <a:r>
              <a:rPr lang="en-US" i="1" dirty="0"/>
              <a:t> 40 K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7932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A85E4-F8A0-D109-D5BD-75648E9A0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Cu</a:t>
            </a:r>
            <a:r>
              <a:rPr lang="en-US" b="1" i="1" dirty="0"/>
              <a:t>stomer Demographics: Who Are Our Shoppers?</a:t>
            </a:r>
            <a:endParaRPr lang="en-IN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A65E9-C9C9-BA37-93A5-1066C592E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b="1" i="1" dirty="0"/>
              <a:t>Our customer base is primarily driven by female shoppers and a mature age demographic.</a:t>
            </a:r>
          </a:p>
          <a:p>
            <a:pPr lvl="1" algn="just"/>
            <a:r>
              <a:rPr lang="en-US" b="1" i="1" dirty="0"/>
              <a:t>Shopping by Gender:</a:t>
            </a:r>
          </a:p>
          <a:p>
            <a:pPr lvl="2" algn="just"/>
            <a:r>
              <a:rPr lang="en-US" b="1" i="1" dirty="0"/>
              <a:t>Female shoppers constitute the majority, accounting for 59.81% of our customer base and generating $152M in revenue.</a:t>
            </a:r>
          </a:p>
          <a:p>
            <a:pPr lvl="2" algn="just"/>
            <a:r>
              <a:rPr lang="en-US" b="1" i="1" dirty="0"/>
              <a:t>Male shoppers make up the remaining 40.19%, contributing $101M in revenue.</a:t>
            </a:r>
          </a:p>
          <a:p>
            <a:pPr lvl="1" algn="just"/>
            <a:r>
              <a:rPr lang="en-US" b="1" i="1" dirty="0"/>
              <a:t>Shopping by Age Group:</a:t>
            </a:r>
          </a:p>
          <a:p>
            <a:pPr lvl="2" algn="just"/>
            <a:r>
              <a:rPr lang="en-US" b="1" i="1" dirty="0"/>
              <a:t>The 46-60 age group is our most valuable segment, generating the highest sales with $72M.</a:t>
            </a:r>
          </a:p>
          <a:p>
            <a:pPr lvl="2" algn="just"/>
            <a:r>
              <a:rPr lang="en-US" b="1" i="1" dirty="0"/>
              <a:t>The 26-35 age group follows closely, indicating strong potential among younger professionals.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1544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D6B92-060C-3F0E-FDA9-05D7BE0B6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Product Performance: What Are People Buying?</a:t>
            </a:r>
            <a:endParaRPr lang="en-IN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8C3F9-585E-FEB0-2159-E05FD7D65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Product sales are concentrated in a few key categories, with fashion leading the way.</a:t>
            </a:r>
          </a:p>
          <a:p>
            <a:pPr lvl="1" algn="just"/>
            <a:r>
              <a:rPr lang="en-US" b="1" dirty="0"/>
              <a:t>Clothing is the Undisputed Leader:</a:t>
            </a:r>
            <a:r>
              <a:rPr lang="en-US" dirty="0"/>
              <a:t> This category attracts the highest number of customers (over 16.5K for cash payments alone) and boasts the most transactions (34K).</a:t>
            </a:r>
          </a:p>
          <a:p>
            <a:pPr lvl="1" algn="just"/>
            <a:r>
              <a:rPr lang="en-US" b="1" dirty="0"/>
              <a:t>Strong Secondary Categories:</a:t>
            </a:r>
            <a:endParaRPr lang="en-US" dirty="0"/>
          </a:p>
          <a:p>
            <a:pPr lvl="2" algn="just"/>
            <a:r>
              <a:rPr lang="en-US" b="1" dirty="0"/>
              <a:t>Cosmetics:</a:t>
            </a:r>
            <a:r>
              <a:rPr lang="en-US" dirty="0"/>
              <a:t> 15K transactions</a:t>
            </a:r>
          </a:p>
          <a:p>
            <a:pPr lvl="2" algn="just"/>
            <a:r>
              <a:rPr lang="en-US" b="1" dirty="0"/>
              <a:t>Food &amp; Beverage:</a:t>
            </a:r>
            <a:r>
              <a:rPr lang="en-US" dirty="0"/>
              <a:t> 13K transactions</a:t>
            </a:r>
          </a:p>
          <a:p>
            <a:pPr lvl="2" algn="just"/>
            <a:r>
              <a:rPr lang="en-US" b="1" dirty="0"/>
              <a:t>Toys:</a:t>
            </a:r>
            <a:r>
              <a:rPr lang="en-US" dirty="0"/>
              <a:t> 10K transactions</a:t>
            </a:r>
          </a:p>
          <a:p>
            <a:pPr lvl="1" algn="just"/>
            <a:r>
              <a:rPr lang="en-US" b="1" dirty="0"/>
              <a:t>Opportunity for Growth:</a:t>
            </a:r>
            <a:r>
              <a:rPr lang="en-US" dirty="0"/>
              <a:t> Books, Souvenirs, and Technology represent smaller segments with potential for targeted expansion.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7849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E8B4D-7700-3EAD-BD57-82C92539E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Financial Insights: How Are Customers Paying?</a:t>
            </a:r>
            <a:endParaRPr lang="en-IN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280F3-4C60-C242-3C99-24AD25A76C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Cash transactions dominate our revenue streams, highlighting a key aspect of our customer's payment behavior.</a:t>
            </a:r>
          </a:p>
          <a:p>
            <a:pPr lvl="1" algn="just"/>
            <a:r>
              <a:rPr lang="en-US" b="1" dirty="0"/>
              <a:t>Cash is King:</a:t>
            </a:r>
            <a:r>
              <a:rPr lang="en-US" dirty="0"/>
              <a:t> Generates the highest revenue at </a:t>
            </a:r>
            <a:r>
              <a:rPr lang="en-US" b="1" dirty="0"/>
              <a:t>$113M</a:t>
            </a:r>
            <a:r>
              <a:rPr lang="en-US" dirty="0"/>
              <a:t>.</a:t>
            </a:r>
          </a:p>
          <a:p>
            <a:pPr lvl="1" algn="just"/>
            <a:r>
              <a:rPr lang="en-US" b="1" dirty="0"/>
              <a:t>Card Payments:</a:t>
            </a:r>
            <a:endParaRPr lang="en-US" dirty="0"/>
          </a:p>
          <a:p>
            <a:pPr lvl="2" algn="just"/>
            <a:r>
              <a:rPr lang="en-US" b="1" dirty="0"/>
              <a:t>Credit Cards</a:t>
            </a:r>
            <a:r>
              <a:rPr lang="en-US" dirty="0"/>
              <a:t> are the second most popular method, contributing </a:t>
            </a:r>
            <a:r>
              <a:rPr lang="en-US" b="1" dirty="0"/>
              <a:t>$88M</a:t>
            </a:r>
            <a:r>
              <a:rPr lang="en-US" dirty="0"/>
              <a:t> in revenue.</a:t>
            </a:r>
          </a:p>
          <a:p>
            <a:pPr lvl="2" algn="just"/>
            <a:r>
              <a:rPr lang="en-US" b="1" dirty="0"/>
              <a:t>Debit Cards</a:t>
            </a:r>
            <a:r>
              <a:rPr lang="en-US" dirty="0"/>
              <a:t> account for </a:t>
            </a:r>
            <a:r>
              <a:rPr lang="en-US" b="1" dirty="0"/>
              <a:t>$51M</a:t>
            </a:r>
            <a:r>
              <a:rPr lang="en-US" dirty="0"/>
              <a:t> in revenue.</a:t>
            </a:r>
          </a:p>
          <a:p>
            <a:pPr lvl="1" algn="just"/>
            <a:r>
              <a:rPr lang="en-US" dirty="0"/>
              <a:t>This distribution suggests a need for robust cash management and an opportunity to encourage digital payment adoption.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3433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7A40B-9F0C-C818-9D43-AE79396B5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Geographical Performance: Top Performing Malls</a:t>
            </a:r>
            <a:endParaRPr lang="en-IN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B8CFC6-792F-78F9-7D7F-F941024A7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Revenue is heavily concentrated in a few top-performing locations.</a:t>
            </a:r>
          </a:p>
          <a:p>
            <a:pPr lvl="1" algn="just"/>
            <a:r>
              <a:rPr lang="en-US" b="1" dirty="0"/>
              <a:t>Top Revenue Generators:</a:t>
            </a:r>
            <a:endParaRPr lang="en-US" dirty="0"/>
          </a:p>
          <a:p>
            <a:pPr lvl="2" algn="just"/>
            <a:r>
              <a:rPr lang="en-US" b="1" dirty="0"/>
              <a:t>Mall of Istanbul:</a:t>
            </a:r>
            <a:r>
              <a:rPr lang="en-US" dirty="0"/>
              <a:t> $39M</a:t>
            </a:r>
          </a:p>
          <a:p>
            <a:pPr lvl="2" algn="just"/>
            <a:r>
              <a:rPr lang="en-US" b="1" dirty="0"/>
              <a:t>Kanyon:</a:t>
            </a:r>
            <a:r>
              <a:rPr lang="en-US" dirty="0"/>
              <a:t> $37M</a:t>
            </a:r>
          </a:p>
          <a:p>
            <a:pPr lvl="2" algn="just"/>
            <a:r>
              <a:rPr lang="en-US" b="1" dirty="0"/>
              <a:t>Metropol AVM:</a:t>
            </a:r>
            <a:r>
              <a:rPr lang="en-US" dirty="0"/>
              <a:t> $25M</a:t>
            </a:r>
          </a:p>
          <a:p>
            <a:pPr lvl="1" algn="just"/>
            <a:r>
              <a:rPr lang="en-US" b="1" dirty="0"/>
              <a:t>Performance Gap:</a:t>
            </a:r>
            <a:r>
              <a:rPr lang="en-US" dirty="0"/>
              <a:t> There is a significant revenue drop after the top three malls, indicating an opportunity to analyze and apply the success factors of leading locations to underperforming ones.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3150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66C67-D8A0-CCF3-8BB4-C7EDDE69D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/>
              <a:t>Key Insights &amp; Strategic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AAE35-A908-DB92-5024-47DD113E8F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34404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Based on the data, we recommend focusing on the following areas to drive future growth:</a:t>
            </a:r>
          </a:p>
          <a:p>
            <a:pPr algn="just"/>
            <a:r>
              <a:rPr lang="en-US" b="1" dirty="0"/>
              <a:t>Target Female Shoppers:</a:t>
            </a:r>
            <a:r>
              <a:rPr lang="en-US" dirty="0"/>
              <a:t> Double down on marketing campaigns and product assortments (especially Clothing and Cosmetics) aimed at our primary female demographic.</a:t>
            </a:r>
          </a:p>
          <a:p>
            <a:pPr algn="just"/>
            <a:r>
              <a:rPr lang="en-US" b="1" dirty="0"/>
              <a:t>Engage High-Value Age Groups:</a:t>
            </a:r>
            <a:r>
              <a:rPr lang="en-US" dirty="0"/>
              <a:t> Develop loyalty programs and tailored experiences for the 46-60 age bracket, while also nurturing the growing 26-35 segment.</a:t>
            </a:r>
          </a:p>
          <a:p>
            <a:pPr algn="just"/>
            <a:r>
              <a:rPr lang="en-US" b="1" dirty="0"/>
              <a:t>Optimize Top Malls:</a:t>
            </a:r>
            <a:r>
              <a:rPr lang="en-US" dirty="0"/>
              <a:t> Analyze the strategies of "Mall of Istanbul" and "Kanyon" to create a "success playbook" that can be implemented across other locations.</a:t>
            </a:r>
          </a:p>
          <a:p>
            <a:pPr algn="just"/>
            <a:r>
              <a:rPr lang="en-US" b="1" dirty="0"/>
              <a:t>Promote Digital Payments:</a:t>
            </a:r>
            <a:r>
              <a:rPr lang="en-US" dirty="0"/>
              <a:t> While supporting the current preference for cash, introduce incentives or targeted campaigns to increase the adoption of credit and debit cards, potentially increasing average transaction value.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3229759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9</TotalTime>
  <Words>562</Words>
  <Application>Microsoft Office PowerPoint</Application>
  <PresentationFormat>Widescreen</PresentationFormat>
  <Paragraphs>49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Gill Sans MT</vt:lpstr>
      <vt:lpstr>Segoe UI</vt:lpstr>
      <vt:lpstr>Gallery</vt:lpstr>
      <vt:lpstr>Customer Shopping Data Analysis</vt:lpstr>
      <vt:lpstr>Executive Summary: Key Performance Indicators (KPIs)</vt:lpstr>
      <vt:lpstr>Customer Demographics: Who Are Our Shoppers?</vt:lpstr>
      <vt:lpstr>Product Performance: What Are People Buying?</vt:lpstr>
      <vt:lpstr>Financial Insights: How Are Customers Paying?</vt:lpstr>
      <vt:lpstr>Geographical Performance: Top Performing Malls</vt:lpstr>
      <vt:lpstr>Key Insights &amp; Strategic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Yogesh Dhavale</dc:creator>
  <cp:lastModifiedBy>Yogesh Dhavale</cp:lastModifiedBy>
  <cp:revision>2</cp:revision>
  <dcterms:created xsi:type="dcterms:W3CDTF">2025-09-16T11:15:04Z</dcterms:created>
  <dcterms:modified xsi:type="dcterms:W3CDTF">2025-09-16T12:23:35Z</dcterms:modified>
</cp:coreProperties>
</file>